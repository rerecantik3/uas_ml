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D5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3D5C"/>
                </a:solidFill>
                <a:latin typeface="Arial"/>
              </a:rPr>
              <a:t>Silhouette Score untuk k = 2–10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1C7293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9A93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k=2</c:v>
                  </c:pt>
                  <c:pt idx="1">
                    <c:v>k=3</c:v>
                  </c:pt>
                  <c:pt idx="2">
                    <c:v>k=4</c:v>
                  </c:pt>
                  <c:pt idx="3">
                    <c:v>k=5</c:v>
                  </c:pt>
                  <c:pt idx="4">
                    <c:v>k=6</c:v>
                  </c:pt>
                  <c:pt idx="5">
                    <c:v>k=7</c:v>
                  </c:pt>
                  <c:pt idx="6">
                    <c:v>k=8</c:v>
                  </c:pt>
                  <c:pt idx="7">
                    <c:v>k=9</c:v>
                  </c:pt>
                  <c:pt idx="8">
                    <c:v>k=10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0.3842</c:v>
                </c:pt>
                <c:pt idx="1">
                  <c:v>0.461</c:v>
                </c:pt>
                <c:pt idx="2">
                  <c:v>0.4926</c:v>
                </c:pt>
                <c:pt idx="3">
                  <c:v>0.5538</c:v>
                </c:pt>
                <c:pt idx="4">
                  <c:v>0.5387</c:v>
                </c:pt>
                <c:pt idx="5">
                  <c:v>0.5198</c:v>
                </c:pt>
                <c:pt idx="6">
                  <c:v>0.4309</c:v>
                </c:pt>
                <c:pt idx="7">
                  <c:v>0.4377</c:v>
                </c:pt>
                <c:pt idx="8">
                  <c:v>0.4339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188720"/>
            <a:ext cx="3840480" cy="384048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274320"/>
            <a:ext cx="2194560" cy="2194560"/>
          </a:xfrm>
          <a:prstGeom prst="ellipse">
            <a:avLst/>
          </a:prstGeom>
          <a:solidFill>
            <a:srgbClr val="E9A93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3291840" cy="329184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 AKHIR SEMESTER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Segmentasi Pelanggan Mall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Agglomerative Hierarchical Clustering berdasarkan Annual Income dan Spending Score untuk Mendukung Strategi Pemasaran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3246120"/>
            <a:ext cx="1280160" cy="0"/>
          </a:xfrm>
          <a:prstGeom prst="line">
            <a:avLst/>
          </a:prstGeom>
          <a:noFill/>
          <a:ln w="25400">
            <a:solidFill>
              <a:srgbClr val="E9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747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 Aulia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24260005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 – Universitas Nahdlatul Ulama Indonesia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 &amp; Tujuan Penelitian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segmentasi pelanggan mall penting dilakukan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733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Bisnis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Persaingan ritel menuntut mall memahami pelanggan secara mendalam untuk pemasaran tepat sasaran.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pelanggan satu per satu tidak efisien saat jumlahnya besar.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Hierarchical Clustering dipilih karena tidak perlu menentukan jumlah cluster di awal — divisualisasikan lewat dendrogram.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00600" y="1371600"/>
            <a:ext cx="3886200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0" y="1618488"/>
            <a:ext cx="530352" cy="53035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17373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60720" y="146304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Pola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760720" y="175564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pola pengelompokan pelanggan berdasarkan Annual Income dan Spending Score.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800600" y="2542032"/>
            <a:ext cx="3886200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29200" y="2788920"/>
            <a:ext cx="530352" cy="53035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2907792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60720" y="263347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Cluster Optimal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760720" y="29260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jumlah cluster optimal melalui visualisasi dendrogram dan Silhouette Score.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00600" y="3712464"/>
            <a:ext cx="3886200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029200" y="3959352"/>
            <a:ext cx="530352" cy="53035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407822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60720" y="3803904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&amp; Strategi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760720" y="409651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Mendeskripsikan karakteristik tiap cluster sebagai dasar rekomendasi strategi pemasaran.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Mall Customer Segmentation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publik dari Kaggle — tidak ada missing value maupun data duplikat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Pelanggan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4173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0B3D5C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60320" y="2103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Dataset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0B3D5C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63440" y="2103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Digunakan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4173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0B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66560" y="2103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Dataset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5486400" cy="1737360"/>
        </p:xfrm>
        <a:graphic>
          <a:graphicData uri="http://schemas.openxmlformats.org/drawingml/2006/table">
            <a:tbl>
              <a:tblPr/>
              <a:tblGrid>
                <a:gridCol w="2011680"/>
                <a:gridCol w="2468880"/>
                <a:gridCol w="1005840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Dipakai?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Identitas unik pelanggan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 kelamin pelanggan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Usia pelanggan (tahun)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Income (k$)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Pendapatan tahunan (ribu USD)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Spending Score (1-100)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 perilaku belanja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172200" y="288036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090672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58000" y="3108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Clustering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400800" y="3520440"/>
            <a:ext cx="2103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 &amp; Spending Score dipilih karena paling merepresentasikan kemampuan ekonomi dan kecenderungan belanja pelanggan secara langsung.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Metode Penelitian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tahap utama dari data mentah hingga profil segmen pelanggan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627632" cy="2331720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581912"/>
            <a:ext cx="585216" cy="585216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7190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8912" y="228600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Pengumpulan &amp; Praproses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770632"/>
            <a:ext cx="1444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dataset, cek missing value/duplikat, feature selection (Income, Score), StandardScaler (Z-score)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1975104" y="2500884"/>
            <a:ext cx="164592" cy="164592"/>
          </a:xfrm>
          <a:prstGeom prst="ellipse">
            <a:avLst/>
          </a:prstGeom>
          <a:solidFill>
            <a:srgbClr val="E9A93B"/>
          </a:solidFill>
          <a:ln/>
        </p:spPr>
      </p:sp>
      <p:sp>
        <p:nvSpPr>
          <p:cNvPr id="11" name="Shape 8"/>
          <p:cNvSpPr/>
          <p:nvPr/>
        </p:nvSpPr>
        <p:spPr>
          <a:xfrm>
            <a:off x="2130552" y="1417320"/>
            <a:ext cx="1627632" cy="2331720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51760" y="158191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71907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00984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203704" y="228600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Matriks Jarak &amp; Dendrogram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221992" y="2770632"/>
            <a:ext cx="1444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Euclidean Distance, bangun linkage Ward, visualisasikan dendrogram</a:t>
            </a:r>
            <a:endParaRPr lang="en-US" sz="870" dirty="0"/>
          </a:p>
        </p:txBody>
      </p:sp>
      <p:sp>
        <p:nvSpPr>
          <p:cNvPr id="17" name="Shape 13"/>
          <p:cNvSpPr/>
          <p:nvPr/>
        </p:nvSpPr>
        <p:spPr>
          <a:xfrm>
            <a:off x="3739896" y="2500884"/>
            <a:ext cx="164592" cy="164592"/>
          </a:xfrm>
          <a:prstGeom prst="ellipse">
            <a:avLst/>
          </a:prstGeom>
          <a:solidFill>
            <a:srgbClr val="E9A93B"/>
          </a:solidFill>
          <a:ln/>
        </p:spPr>
      </p:sp>
      <p:sp>
        <p:nvSpPr>
          <p:cNvPr id="18" name="Shape 14"/>
          <p:cNvSpPr/>
          <p:nvPr/>
        </p:nvSpPr>
        <p:spPr>
          <a:xfrm>
            <a:off x="3895344" y="1417320"/>
            <a:ext cx="1627632" cy="2331720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416552" y="1581912"/>
            <a:ext cx="585216" cy="585216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71907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65776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968496" y="228600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Penentuan k Optimal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986784" y="2770632"/>
            <a:ext cx="1444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Silhouette Score untuk k = 2–10, pilih k dengan skor tertinggi</a:t>
            </a:r>
            <a:endParaRPr lang="en-US" sz="870" dirty="0"/>
          </a:p>
        </p:txBody>
      </p:sp>
      <p:sp>
        <p:nvSpPr>
          <p:cNvPr id="24" name="Shape 19"/>
          <p:cNvSpPr/>
          <p:nvPr/>
        </p:nvSpPr>
        <p:spPr>
          <a:xfrm>
            <a:off x="5504688" y="2500884"/>
            <a:ext cx="164592" cy="164592"/>
          </a:xfrm>
          <a:prstGeom prst="ellipse">
            <a:avLst/>
          </a:prstGeom>
          <a:solidFill>
            <a:srgbClr val="E9A93B"/>
          </a:solidFill>
          <a:ln/>
        </p:spPr>
      </p:sp>
      <p:sp>
        <p:nvSpPr>
          <p:cNvPr id="25" name="Shape 20"/>
          <p:cNvSpPr/>
          <p:nvPr/>
        </p:nvSpPr>
        <p:spPr>
          <a:xfrm>
            <a:off x="5660136" y="1417320"/>
            <a:ext cx="1627632" cy="2331720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181344" y="158191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1719072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30568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733288" y="228600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Clustering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5751576" y="2770632"/>
            <a:ext cx="1444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AgglomerativeClustering (n_clusters=5, linkage='ward'), beri label 0–4</a:t>
            </a:r>
            <a:endParaRPr lang="en-US" sz="870" dirty="0"/>
          </a:p>
        </p:txBody>
      </p:sp>
      <p:sp>
        <p:nvSpPr>
          <p:cNvPr id="31" name="Shape 25"/>
          <p:cNvSpPr/>
          <p:nvPr/>
        </p:nvSpPr>
        <p:spPr>
          <a:xfrm>
            <a:off x="7269480" y="2500884"/>
            <a:ext cx="164592" cy="164592"/>
          </a:xfrm>
          <a:prstGeom prst="ellipse">
            <a:avLst/>
          </a:prstGeom>
          <a:solidFill>
            <a:srgbClr val="E9A93B"/>
          </a:solidFill>
          <a:ln/>
        </p:spPr>
      </p:sp>
      <p:sp>
        <p:nvSpPr>
          <p:cNvPr id="32" name="Shape 26"/>
          <p:cNvSpPr/>
          <p:nvPr/>
        </p:nvSpPr>
        <p:spPr>
          <a:xfrm>
            <a:off x="7424928" y="1417320"/>
            <a:ext cx="1627632" cy="2331720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946136" y="1581912"/>
            <a:ext cx="585216" cy="585216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1719072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59536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7498080" y="228600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&amp; Rekomendasi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7516368" y="2770632"/>
            <a:ext cx="1444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rata-rata Age/Income/Score tiap cluster, susun strategi pemasaran</a:t>
            </a:r>
            <a:endParaRPr lang="en-US" sz="870" dirty="0"/>
          </a:p>
        </p:txBody>
      </p:sp>
      <p:sp>
        <p:nvSpPr>
          <p:cNvPr id="38" name="Text 31"/>
          <p:cNvSpPr/>
          <p:nvPr/>
        </p:nvSpPr>
        <p:spPr>
          <a:xfrm>
            <a:off x="365760" y="39776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Linkage: Ward’s Method   •   Jarak: Euclidean Distance   •   Tools: Python (Scikit-learn, SciPy) di Jupyter Notebook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Penentuan Jumlah Cluster Optimal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memberi kandidat visual, Silhouette Score memvalidasi secara kuantitatif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15000" y="128016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0B3D5C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0" y="1417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5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943600" y="193852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tertinggi: 0.5538 — jumlah cluster paling optimal untuk dataset ini.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715000" y="2852928"/>
            <a:ext cx="2971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03580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30449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Baca Dendrogram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943600" y="3456432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Garis potong horizontal pada jarak = 6 memotong 5 garis vertikal → mengindikasikan 5 kelompok pelanggan yang terpisah jelas.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Hasil: 5 Segmen Pelanggan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rata-rata Age, Annual Income, dan Spending Score tiap cluster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664208" cy="3246120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1664208" cy="777240"/>
          </a:xfrm>
          <a:prstGeom prst="roundRect">
            <a:avLst>
              <a:gd name="adj" fmla="val 10588"/>
            </a:avLst>
          </a:prstGeom>
          <a:solidFill>
            <a:srgbClr val="0B3D5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691640"/>
            <a:ext cx="1664208" cy="36576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5331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35331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64592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Tinggi Skor Rendah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5488" y="21945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43000" y="219456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41.0 th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5488" y="25603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43000" y="256032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$89.4k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75488" y="29260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43000" y="292608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75488" y="32918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43000" y="329184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plgn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157984" y="1280160"/>
            <a:ext cx="1664208" cy="3246120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157984" y="1280160"/>
            <a:ext cx="1664208" cy="777240"/>
          </a:xfrm>
          <a:prstGeom prst="roundRect">
            <a:avLst>
              <a:gd name="adj" fmla="val 10588"/>
            </a:avLst>
          </a:prstGeom>
          <a:solidFill>
            <a:srgbClr val="E9A93B"/>
          </a:solidFill>
          <a:ln/>
        </p:spPr>
      </p:sp>
      <p:sp>
        <p:nvSpPr>
          <p:cNvPr id="20" name="Shape 17"/>
          <p:cNvSpPr/>
          <p:nvPr/>
        </p:nvSpPr>
        <p:spPr>
          <a:xfrm>
            <a:off x="2157984" y="1691640"/>
            <a:ext cx="1664208" cy="365760"/>
          </a:xfrm>
          <a:prstGeom prst="rect">
            <a:avLst/>
          </a:prstGeom>
          <a:solidFill>
            <a:srgbClr val="E9A93B"/>
          </a:solidFill>
          <a:ln/>
        </p:spPr>
      </p:sp>
      <p:sp>
        <p:nvSpPr>
          <p:cNvPr id="21" name="Text 18"/>
          <p:cNvSpPr/>
          <p:nvPr/>
        </p:nvSpPr>
        <p:spPr>
          <a:xfrm>
            <a:off x="2249424" y="135331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0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353312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249424" y="164592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Tinggi Skor Tinggi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2267712" y="21945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2935224" y="219456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32.7 th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2267712" y="25603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2935224" y="256032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$86.5k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2267712" y="29260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2935224" y="292608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2267712" y="32918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Jml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2935224" y="329184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plgn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950208" y="1280160"/>
            <a:ext cx="1664208" cy="3246120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3950208" y="1280160"/>
            <a:ext cx="1664208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</p:sp>
      <p:sp>
        <p:nvSpPr>
          <p:cNvPr id="34" name="Shape 30"/>
          <p:cNvSpPr/>
          <p:nvPr/>
        </p:nvSpPr>
        <p:spPr>
          <a:xfrm>
            <a:off x="3950208" y="1691640"/>
            <a:ext cx="1664208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Text 31"/>
          <p:cNvSpPr/>
          <p:nvPr/>
        </p:nvSpPr>
        <p:spPr>
          <a:xfrm>
            <a:off x="4041648" y="135331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05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1353312"/>
            <a:ext cx="292608" cy="29260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4041648" y="164592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Skor Sedang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4059936" y="21945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4727448" y="219456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42.5 th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4059936" y="25603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4727448" y="256032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$55.8k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4059936" y="29260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4727448" y="292608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49.1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4059936" y="32918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Jml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4727448" y="329184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plgn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5742432" y="1280160"/>
            <a:ext cx="1664208" cy="3246120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5742432" y="1280160"/>
            <a:ext cx="1664208" cy="777240"/>
          </a:xfrm>
          <a:prstGeom prst="roundRect">
            <a:avLst>
              <a:gd name="adj" fmla="val 10588"/>
            </a:avLst>
          </a:prstGeom>
          <a:solidFill>
            <a:srgbClr val="C1502E"/>
          </a:solidFill>
          <a:ln/>
        </p:spPr>
      </p:sp>
      <p:sp>
        <p:nvSpPr>
          <p:cNvPr id="48" name="Shape 43"/>
          <p:cNvSpPr/>
          <p:nvPr/>
        </p:nvSpPr>
        <p:spPr>
          <a:xfrm>
            <a:off x="5742432" y="1691640"/>
            <a:ext cx="1664208" cy="365760"/>
          </a:xfrm>
          <a:prstGeom prst="rect">
            <a:avLst/>
          </a:prstGeom>
          <a:solidFill>
            <a:srgbClr val="C1502E"/>
          </a:solidFill>
          <a:ln/>
        </p:spPr>
      </p:sp>
      <p:sp>
        <p:nvSpPr>
          <p:cNvPr id="49" name="Text 44"/>
          <p:cNvSpPr/>
          <p:nvPr/>
        </p:nvSpPr>
        <p:spPr>
          <a:xfrm>
            <a:off x="5833872" y="135331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</a:t>
            </a:r>
            <a:endParaRPr lang="en-US" sz="1050" dirty="0"/>
          </a:p>
        </p:txBody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353312"/>
            <a:ext cx="292608" cy="292608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5833872" y="164592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Rendah Skor Tinggi</a:t>
            </a:r>
            <a:endParaRPr lang="en-US" sz="1000" dirty="0"/>
          </a:p>
        </p:txBody>
      </p:sp>
      <p:sp>
        <p:nvSpPr>
          <p:cNvPr id="52" name="Text 46"/>
          <p:cNvSpPr/>
          <p:nvPr/>
        </p:nvSpPr>
        <p:spPr>
          <a:xfrm>
            <a:off x="5852160" y="21945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</a:t>
            </a:r>
            <a:endParaRPr lang="en-US" sz="950" dirty="0"/>
          </a:p>
        </p:txBody>
      </p:sp>
      <p:sp>
        <p:nvSpPr>
          <p:cNvPr id="53" name="Text 47"/>
          <p:cNvSpPr/>
          <p:nvPr/>
        </p:nvSpPr>
        <p:spPr>
          <a:xfrm>
            <a:off x="6519672" y="219456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 th</a:t>
            </a:r>
            <a:endParaRPr lang="en-US" sz="950" dirty="0"/>
          </a:p>
        </p:txBody>
      </p:sp>
      <p:sp>
        <p:nvSpPr>
          <p:cNvPr id="54" name="Text 48"/>
          <p:cNvSpPr/>
          <p:nvPr/>
        </p:nvSpPr>
        <p:spPr>
          <a:xfrm>
            <a:off x="5852160" y="25603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950" dirty="0"/>
          </a:p>
        </p:txBody>
      </p:sp>
      <p:sp>
        <p:nvSpPr>
          <p:cNvPr id="55" name="Text 49"/>
          <p:cNvSpPr/>
          <p:nvPr/>
        </p:nvSpPr>
        <p:spPr>
          <a:xfrm>
            <a:off x="6519672" y="256032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$25.1k</a:t>
            </a:r>
            <a:endParaRPr lang="en-US" sz="950" dirty="0"/>
          </a:p>
        </p:txBody>
      </p:sp>
      <p:sp>
        <p:nvSpPr>
          <p:cNvPr id="56" name="Text 50"/>
          <p:cNvSpPr/>
          <p:nvPr/>
        </p:nvSpPr>
        <p:spPr>
          <a:xfrm>
            <a:off x="5852160" y="29260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</a:t>
            </a:r>
            <a:endParaRPr lang="en-US" sz="950" dirty="0"/>
          </a:p>
        </p:txBody>
      </p:sp>
      <p:sp>
        <p:nvSpPr>
          <p:cNvPr id="57" name="Text 51"/>
          <p:cNvSpPr/>
          <p:nvPr/>
        </p:nvSpPr>
        <p:spPr>
          <a:xfrm>
            <a:off x="6519672" y="292608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</a:t>
            </a:r>
            <a:endParaRPr lang="en-US" sz="950" dirty="0"/>
          </a:p>
        </p:txBody>
      </p:sp>
      <p:sp>
        <p:nvSpPr>
          <p:cNvPr id="58" name="Text 52"/>
          <p:cNvSpPr/>
          <p:nvPr/>
        </p:nvSpPr>
        <p:spPr>
          <a:xfrm>
            <a:off x="5852160" y="32918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Jml</a:t>
            </a:r>
            <a:endParaRPr lang="en-US" sz="950" dirty="0"/>
          </a:p>
        </p:txBody>
      </p:sp>
      <p:sp>
        <p:nvSpPr>
          <p:cNvPr id="59" name="Text 53"/>
          <p:cNvSpPr/>
          <p:nvPr/>
        </p:nvSpPr>
        <p:spPr>
          <a:xfrm>
            <a:off x="6519672" y="329184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plgn</a:t>
            </a:r>
            <a:endParaRPr lang="en-US" sz="950" dirty="0"/>
          </a:p>
        </p:txBody>
      </p:sp>
      <p:sp>
        <p:nvSpPr>
          <p:cNvPr id="60" name="Shape 54"/>
          <p:cNvSpPr/>
          <p:nvPr/>
        </p:nvSpPr>
        <p:spPr>
          <a:xfrm>
            <a:off x="7534656" y="1280160"/>
            <a:ext cx="1664208" cy="3246120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1" name="Shape 55"/>
          <p:cNvSpPr/>
          <p:nvPr/>
        </p:nvSpPr>
        <p:spPr>
          <a:xfrm>
            <a:off x="7534656" y="1280160"/>
            <a:ext cx="1664208" cy="777240"/>
          </a:xfrm>
          <a:prstGeom prst="roundRect">
            <a:avLst>
              <a:gd name="adj" fmla="val 10588"/>
            </a:avLst>
          </a:prstGeom>
          <a:solidFill>
            <a:srgbClr val="6C7A89"/>
          </a:solidFill>
          <a:ln/>
        </p:spPr>
      </p:sp>
      <p:sp>
        <p:nvSpPr>
          <p:cNvPr id="62" name="Shape 56"/>
          <p:cNvSpPr/>
          <p:nvPr/>
        </p:nvSpPr>
        <p:spPr>
          <a:xfrm>
            <a:off x="7534656" y="1691640"/>
            <a:ext cx="1664208" cy="365760"/>
          </a:xfrm>
          <a:prstGeom prst="rect">
            <a:avLst/>
          </a:prstGeom>
          <a:solidFill>
            <a:srgbClr val="6C7A89"/>
          </a:solidFill>
          <a:ln/>
        </p:spPr>
      </p:sp>
      <p:sp>
        <p:nvSpPr>
          <p:cNvPr id="63" name="Text 57"/>
          <p:cNvSpPr/>
          <p:nvPr/>
        </p:nvSpPr>
        <p:spPr>
          <a:xfrm>
            <a:off x="7626096" y="135331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4</a:t>
            </a:r>
            <a:endParaRPr lang="en-US" sz="1050" dirty="0"/>
          </a:p>
        </p:txBody>
      </p:sp>
      <p:pic>
        <p:nvPicPr>
          <p:cNvPr id="6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944" y="1353312"/>
            <a:ext cx="292608" cy="292608"/>
          </a:xfrm>
          <a:prstGeom prst="rect">
            <a:avLst/>
          </a:prstGeom>
        </p:spPr>
      </p:pic>
      <p:sp>
        <p:nvSpPr>
          <p:cNvPr id="65" name="Text 58"/>
          <p:cNvSpPr/>
          <p:nvPr/>
        </p:nvSpPr>
        <p:spPr>
          <a:xfrm>
            <a:off x="7626096" y="164592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Rendah Skor Rendah</a:t>
            </a:r>
            <a:endParaRPr lang="en-US" sz="1000" dirty="0"/>
          </a:p>
        </p:txBody>
      </p:sp>
      <p:sp>
        <p:nvSpPr>
          <p:cNvPr id="66" name="Text 59"/>
          <p:cNvSpPr/>
          <p:nvPr/>
        </p:nvSpPr>
        <p:spPr>
          <a:xfrm>
            <a:off x="7644384" y="21945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</a:t>
            </a:r>
            <a:endParaRPr lang="en-US" sz="950" dirty="0"/>
          </a:p>
        </p:txBody>
      </p:sp>
      <p:sp>
        <p:nvSpPr>
          <p:cNvPr id="67" name="Text 60"/>
          <p:cNvSpPr/>
          <p:nvPr/>
        </p:nvSpPr>
        <p:spPr>
          <a:xfrm>
            <a:off x="8311896" y="219456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 th</a:t>
            </a:r>
            <a:endParaRPr lang="en-US" sz="950" dirty="0"/>
          </a:p>
        </p:txBody>
      </p:sp>
      <p:sp>
        <p:nvSpPr>
          <p:cNvPr id="68" name="Text 61"/>
          <p:cNvSpPr/>
          <p:nvPr/>
        </p:nvSpPr>
        <p:spPr>
          <a:xfrm>
            <a:off x="7644384" y="25603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950" dirty="0"/>
          </a:p>
        </p:txBody>
      </p:sp>
      <p:sp>
        <p:nvSpPr>
          <p:cNvPr id="69" name="Text 62"/>
          <p:cNvSpPr/>
          <p:nvPr/>
        </p:nvSpPr>
        <p:spPr>
          <a:xfrm>
            <a:off x="8311896" y="256032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$27.2k</a:t>
            </a:r>
            <a:endParaRPr lang="en-US" sz="950" dirty="0"/>
          </a:p>
        </p:txBody>
      </p:sp>
      <p:sp>
        <p:nvSpPr>
          <p:cNvPr id="70" name="Text 63"/>
          <p:cNvSpPr/>
          <p:nvPr/>
        </p:nvSpPr>
        <p:spPr>
          <a:xfrm>
            <a:off x="7644384" y="29260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</a:t>
            </a:r>
            <a:endParaRPr lang="en-US" sz="950" dirty="0"/>
          </a:p>
        </p:txBody>
      </p:sp>
      <p:sp>
        <p:nvSpPr>
          <p:cNvPr id="71" name="Text 64"/>
          <p:cNvSpPr/>
          <p:nvPr/>
        </p:nvSpPr>
        <p:spPr>
          <a:xfrm>
            <a:off x="8311896" y="292608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</a:t>
            </a:r>
            <a:endParaRPr lang="en-US" sz="950" dirty="0"/>
          </a:p>
        </p:txBody>
      </p:sp>
      <p:sp>
        <p:nvSpPr>
          <p:cNvPr id="72" name="Text 65"/>
          <p:cNvSpPr/>
          <p:nvPr/>
        </p:nvSpPr>
        <p:spPr>
          <a:xfrm>
            <a:off x="7644384" y="32918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Jml</a:t>
            </a:r>
            <a:endParaRPr lang="en-US" sz="950" dirty="0"/>
          </a:p>
        </p:txBody>
      </p:sp>
      <p:sp>
        <p:nvSpPr>
          <p:cNvPr id="73" name="Text 66"/>
          <p:cNvSpPr/>
          <p:nvPr/>
        </p:nvSpPr>
        <p:spPr>
          <a:xfrm>
            <a:off x="8311896" y="329184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plgn</a:t>
            </a:r>
            <a:endParaRPr lang="en-US" sz="950" dirty="0"/>
          </a:p>
        </p:txBody>
      </p:sp>
      <p:sp>
        <p:nvSpPr>
          <p:cNvPr id="74" name="Text 67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Silhouette Score = 0.5538  •  Segmen terbesar: Cluster 2 (85 pelanggan, income &amp; skor sedang)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291840"/>
            <a:ext cx="3108960" cy="3108960"/>
          </a:xfrm>
          <a:prstGeom prst="ellipse">
            <a:avLst/>
          </a:prstGeom>
          <a:solidFill>
            <a:srgbClr val="E9A93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1732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Hierarchical Clustering berhasil mengidentifikasi 5 segmen pelanggan mall yang berbeda karakteristik berdasarkan Annual Income dan Spending Score.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28600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cluster optimal k = 5 dikonfirmasi lewat dendrogram dan Silhouette Score tertinggi (0.5538).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329184" cy="329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315468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tiap cluster — dari pelanggan premium hingga pasif — memberi dasar konkret untuk strategi pemasaran yang tepat sasaran.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58368" y="4069080"/>
            <a:ext cx="1280160" cy="0"/>
          </a:xfrm>
          <a:prstGeom prst="line">
            <a:avLst/>
          </a:prstGeom>
          <a:noFill/>
          <a:ln w="25400">
            <a:solidFill>
              <a:srgbClr val="E9A93B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40080" y="4251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Segmentasi Pelanggan Mall - Agglomerative Hierarchical Clustering</dc:title>
  <dc:subject>PptxGenJS Presentation</dc:subject>
  <dc:creator>Refa Aulia</dc:creator>
  <cp:lastModifiedBy>Refa Aulia</cp:lastModifiedBy>
  <cp:revision>1</cp:revision>
  <dcterms:created xsi:type="dcterms:W3CDTF">2026-07-08T18:12:41Z</dcterms:created>
  <dcterms:modified xsi:type="dcterms:W3CDTF">2026-07-08T18:12:41Z</dcterms:modified>
</cp:coreProperties>
</file>